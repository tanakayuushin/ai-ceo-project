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2011680"/>
          </a:xfrm>
          <a:prstGeom prst="rect">
            <a:avLst/>
          </a:prstGeom>
          <a:solidFill>
            <a:srgbClr val="14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中小企業のためのAI活用入門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C9A84C"/>
                </a:solidFill>
              </a:rPr>
              <a:t>— 明日から使える業務効率化のヒント —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2697480"/>
            <a:ext cx="210312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Emport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74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C9A84C"/>
                </a:solidFill>
              </a:rPr>
              <a:t>主催：○○商工会議所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今日のゴール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Emport AI — 中小企業のためのAI活用入門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3A5F"/>
                </a:solidFill>
              </a:rPr>
              <a:t>今日終わったとき、こうなっていてほしい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2400">
                <a:solidFill>
                  <a:srgbClr val="333333"/>
                </a:solidFill>
              </a:rPr>
              <a:t>✅  「AIって自分の会社に使えるかも」と思っている</a:t>
            </a:r>
          </a:p>
          <a:p>
            <a:pPr>
              <a:spcBef>
                <a:spcPts val="400"/>
              </a:spcBef>
            </a:pPr>
            <a:r>
              <a:rPr sz="2400">
                <a:solidFill>
                  <a:srgbClr val="333333"/>
                </a:solidFill>
              </a:rPr>
              <a:t>✅  「何から始めればいいか」がわかっている</a:t>
            </a:r>
          </a:p>
          <a:p>
            <a:pPr>
              <a:spcBef>
                <a:spcPts val="400"/>
              </a:spcBef>
            </a:pPr>
            <a:r>
              <a:rPr sz="2400">
                <a:solidFill>
                  <a:srgbClr val="333333"/>
                </a:solidFill>
              </a:rPr>
              <a:t>✅  「コストと補助金」のイメージがついている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303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88888"/>
                </a:solidFill>
              </a:rPr>
              <a:t>※ AIの全部を知る必要はありません。今日は「最初の一歩」の話だけします。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まず、よくある誤解を3つ解消します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Emport AI — 中小企業のためのAI活用入門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7772400" cy="1005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</a:rPr>
              <a:t>① AIは大企業のもの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16002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74C3C"/>
                </a:solidFill>
              </a:rPr>
              <a:t>→  × 誤解です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743200"/>
            <a:ext cx="7772400" cy="1005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971800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</a:rPr>
              <a:t>② 導入に何百万もかかる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9718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74C3C"/>
                </a:solidFill>
              </a:rPr>
              <a:t>→  × 誤解です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114800"/>
            <a:ext cx="7772400" cy="1005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343400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</a:rPr>
              <a:t>③ ITが苦手な社員には無理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43434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74C3C"/>
                </a:solidFill>
              </a:rPr>
              <a:t>→  × 誤解です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760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0">
                <a:solidFill>
                  <a:srgbClr val="1E3A5F"/>
                </a:solidFill>
              </a:rPr>
              <a:t>このあとひとつずつ見ていきます 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誤解①「AIは大企業のもの」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A84C"/>
                </a:solidFill>
              </a:rPr>
              <a:t>→  これは間違いです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Emport AI — 中小企業のためのAI活用入門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5303520" cy="3200400"/>
          </a:xfrm>
          <a:prstGeom prst="rect">
            <a:avLst/>
          </a:prstGeom>
          <a:solidFill>
            <a:srgbClr val="FF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74C3C"/>
                </a:solidFill>
              </a:rPr>
              <a:t>よくある誤解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202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2000">
                <a:solidFill>
                  <a:srgbClr val="333333"/>
                </a:solidFill>
              </a:rPr>
              <a:t>「トヨタや楽天がやるもの」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333333"/>
                </a:solidFill>
              </a:rPr>
              <a:t>「うちには関係ない」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333333"/>
                </a:solidFill>
              </a:rPr>
              <a:t>「専門家がいないと無理」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486400" cy="32004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7AE60"/>
                </a:solidFill>
              </a:rPr>
              <a:t>事実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9202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</a:rPr>
              <a:t>従業員20名以下の小規模事業者でも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42316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1E3A5F"/>
                </a:solidFill>
              </a:rPr>
              <a:t>3社に1社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200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333333"/>
                </a:solidFill>
              </a:rPr>
              <a:t>がすでにAIツールを活用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846320"/>
            <a:ext cx="11338560" cy="822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937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隣の競合が、もうこっそり使い始めているかもしれません。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誤解②「導入に何百万もかかる」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A84C"/>
                </a:solidFill>
              </a:rPr>
              <a:t>→  これも間違いです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Emport AI — 中小企業のためのAI活用入門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80160"/>
            <a:ext cx="5486400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280160"/>
            <a:ext cx="5486400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46304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よくある誤解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46304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現実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1508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C9A84C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286000"/>
            <a:ext cx="548640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2286000"/>
            <a:ext cx="548640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46888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</a:rPr>
              <a:t>システム開発 ＝ 高い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6888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</a:rPr>
              <a:t>月額1,000円〜のツールがある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2514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E3A5F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291840"/>
            <a:ext cx="54864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291840"/>
            <a:ext cx="54864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47472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</a:rPr>
              <a:t>自社専用が必要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47472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</a:rPr>
              <a:t>既製品で十分なことが多い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3520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E3A5F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297680"/>
            <a:ext cx="548640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4297680"/>
            <a:ext cx="548640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4805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</a:rPr>
              <a:t>補助金は面倒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4805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</a:rPr>
              <a:t>申請サポートがある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720" y="45262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E3A5F"/>
                </a:solidFill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5486400"/>
            <a:ext cx="11338560" cy="8229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55778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E3A5F"/>
                </a:solidFill>
              </a:rPr>
              <a:t>IT導入補助金を活用すれば、導入費用の最大75%が補助される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誤解③「ITが苦手な社員には無理」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A84C"/>
                </a:solidFill>
              </a:rPr>
              <a:t>→  今のAIは別物です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Emport AI — 中小企業のためのAI活用入門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E3A5F"/>
                </a:solidFill>
              </a:rPr>
              <a:t>今のAIは「スマホのアプリ」と同じ感覚で使える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2103120"/>
            <a:ext cx="9144000" cy="16459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2286000"/>
            <a:ext cx="8778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7AE60"/>
                </a:solidFill>
              </a:rPr>
              <a:t>実例：60代のパート従業員の方が2週間でAIツールを使いこなした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023360"/>
            <a:ext cx="9144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E3A5F"/>
                </a:solidFill>
              </a:rPr>
              <a:t>難しいのはツールではなく
「何に使うか」を決めること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394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333333"/>
                </a:solidFill>
              </a:rPr>
              <a:t>それを一緒に考えるのが私たちの仕事です。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避けられない現実 — 山口県の人手不足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Emport AI — 中小企業のためのAI活用入門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2200">
                <a:solidFill>
                  <a:srgbClr val="333333"/>
                </a:solidFill>
              </a:rPr>
              <a:t>山口県の有効求人倍率：全国平均を上回り続けている</a:t>
            </a:r>
          </a:p>
          <a:p>
            <a:pPr>
              <a:spcBef>
                <a:spcPts val="400"/>
              </a:spcBef>
            </a:pPr>
            <a:r>
              <a:rPr sz="2200">
                <a:solidFill>
                  <a:srgbClr val="333333"/>
                </a:solidFill>
              </a:rPr>
              <a:t>2030年までに生産年齢人口がさらに10%以上減少する見込み</a:t>
            </a:r>
          </a:p>
          <a:p>
            <a:pPr>
              <a:spcBef>
                <a:spcPts val="400"/>
              </a:spcBef>
            </a:pPr>
            <a:r>
              <a:rPr sz="2200">
                <a:solidFill>
                  <a:srgbClr val="333333"/>
                </a:solidFill>
              </a:rPr>
              <a:t>求人を出しても来ない。来ても続かない。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931920"/>
            <a:ext cx="1115568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1148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5年後、今のやり方で会社を回せますか？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212080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333333"/>
                </a:solidFill>
              </a:rPr>
              <a:t>AIは「人を減らす」道具ではなく
「今いる人でもっとできる」道具です。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業種別 活用事例 — 製造業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Emport AI — 中小企業のためのAI活用入門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486400" cy="2286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630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3A5F"/>
                </a:solidFill>
              </a:rPr>
              <a:t>【部品メーカー / 従業員15名】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745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333333"/>
                </a:solidFill>
              </a:rPr>
              <a:t>課題: 検品がベテラン2名に依存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333333"/>
                </a:solidFill>
              </a:rPr>
              <a:t>解決: AIカメラによる外観検査を導入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333333"/>
                </a:solidFill>
              </a:rPr>
              <a:t>結果: ✅ 品質水準を維持しつつ体制を強化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333333"/>
                </a:solidFill>
              </a:rPr>
              <a:t>費用: 150万円 → 補助金100万円 → 実質50万円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5486400" cy="2286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4630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3A5F"/>
                </a:solidFill>
              </a:rPr>
              <a:t>【食品製造 / 従業員30名】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8745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333333"/>
                </a:solidFill>
              </a:rPr>
              <a:t>課題: FAX受発注処理に毎日2時間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333333"/>
                </a:solidFill>
              </a:rPr>
              <a:t>解決: AIによるFAX自動読み取り・データ化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333333"/>
                </a:solidFill>
              </a:rPr>
              <a:t>結果: ✅ 処理時間 2時間 → 20分（1/6）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333333"/>
                </a:solidFill>
              </a:rPr>
              <a:t>費用: 月額2万円（補助金で初期費用カバー）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931920"/>
            <a:ext cx="11338560" cy="7315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0233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E3A5F"/>
                </a:solidFill>
              </a:rPr>
              <a:t>書類・データ処理が発生する業種なら、ほぼすべてで活用できます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業種別 活用事例 — サービス業・小売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Emport AI — 中小企業のためのAI活用入門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486400" cy="2560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630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3A5F"/>
                </a:solidFill>
              </a:rPr>
              <a:t>【旅館 / 従業員20名】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74520"/>
            <a:ext cx="5212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333333"/>
                </a:solidFill>
              </a:rPr>
              <a:t>課題: 予約問い合わせ対応に毎日3〜4時間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333333"/>
                </a:solidFill>
              </a:rPr>
              <a:t>解決: AIチャットボットをHP・LINEに設置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333333"/>
                </a:solidFill>
              </a:rPr>
              <a:t>結果: ✅ 問い合わせの75%をAIが自動対応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333333"/>
                </a:solidFill>
              </a:rPr>
              <a:t>       ✅ 深夜予約も自動化。機会損失ゼロ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5486400" cy="2560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4630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3A5F"/>
                </a:solidFill>
              </a:rPr>
              <a:t>【小売店 / 従業員8名】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874520"/>
            <a:ext cx="5212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333333"/>
                </a:solidFill>
              </a:rPr>
              <a:t>課題: 発注作業に時間がかかり在庫の過不足頻発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333333"/>
                </a:solidFill>
              </a:rPr>
              <a:t>解決: 過去データをAIが分析し発注量を自動提案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333333"/>
                </a:solidFill>
              </a:rPr>
              <a:t>結果: ✅ 在庫ロス30%削減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333333"/>
                </a:solidFill>
              </a:rPr>
              <a:t>       ✅ 発注作業時間が半分に短縮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3分ワーク：自社に当てはめてみよう ✏️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Emport AI — 中小企業のためのAI活用入門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333333"/>
                </a:solidFill>
              </a:rPr>
              <a:t>お手元のシートに書いてください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20240"/>
            <a:ext cx="1115568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10312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E3A5F"/>
                </a:solidFill>
              </a:rPr>
              <a:t>Q1.  今の業務で「時間がかかって困っている」作業は何ですか？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200400"/>
            <a:ext cx="1115568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38328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E3A5F"/>
                </a:solidFill>
              </a:rPr>
              <a:t>Q2.  「誰かに任せたい」と思っている作業はありますか？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480560"/>
            <a:ext cx="1115568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66344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E3A5F"/>
                </a:solidFill>
              </a:rPr>
              <a:t>Q3.  作業時間が半分になったら、何に使いたいですか？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126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88888"/>
                </a:solidFill>
              </a:rPr>
              <a:t>※ 正解はありません。思いつくままで大丈夫です。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使える補助金 — IT導入補助金（経済産業省）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Emport AI — 中小企業のためのAI活用入門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2743200" cy="822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0" y="1371600"/>
            <a:ext cx="8503920" cy="8229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0876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対象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50876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333333"/>
                </a:solidFill>
              </a:rPr>
              <a:t>中小企業・小規模事業者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377440"/>
            <a:ext cx="2743200" cy="822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0" y="2377440"/>
            <a:ext cx="8503920" cy="8229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51460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補助率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51460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333333"/>
                </a:solidFill>
              </a:rPr>
              <a:t>最大 75%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383280"/>
            <a:ext cx="2743200" cy="822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0" y="3383280"/>
            <a:ext cx="8503920" cy="8229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52044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補助額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352044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333333"/>
                </a:solidFill>
              </a:rPr>
              <a:t>5万円 〜 450万円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389120"/>
            <a:ext cx="2743200" cy="822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0" y="4389120"/>
            <a:ext cx="8503920" cy="8229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52628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対象経費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45262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333333"/>
                </a:solidFill>
              </a:rPr>
              <a:t>ITツール・クラウド・導入支援費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486400"/>
            <a:ext cx="11338560" cy="8229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5778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E3A5F"/>
                </a:solidFill>
              </a:rPr>
              <a:t>100万円の導入 → 補助75万円 → 自己負担 25万円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最初の一歩：AI業務診断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Emport AI — 中小企業のためのAI活用入門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11338560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私たちが勧める「最初の一歩」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468880"/>
            <a:ext cx="3566160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56032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C9A84C"/>
                </a:solidFill>
              </a:rPr>
              <a:t>半日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06324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333333"/>
                </a:solidFill>
              </a:rPr>
              <a:t>御社に訪問してヒアリング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2468880"/>
            <a:ext cx="3566160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256032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C9A84C"/>
                </a:solidFill>
              </a:rPr>
              <a:t>1週間後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306324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333333"/>
                </a:solidFill>
              </a:rPr>
              <a:t>AIレポートをお渡し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21040" y="2468880"/>
            <a:ext cx="3566160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256032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C9A84C"/>
                </a:solidFill>
              </a:rPr>
              <a:t>報告会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06324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333333"/>
                </a:solidFill>
              </a:rPr>
              <a:t>結果をもとに次の方針を一緒に決める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3891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2000">
                <a:solidFill>
                  <a:srgbClr val="333333"/>
                </a:solidFill>
              </a:rPr>
              <a:t>✅  AIで効率化できる業務リスト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333333"/>
                </a:solidFill>
              </a:rPr>
              <a:t>✅  おすすめツール・ソリューション案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333333"/>
                </a:solidFill>
              </a:rPr>
              <a:t>✅  費用と補助金の活用シミュレーション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333333"/>
                </a:solidFill>
              </a:rPr>
              <a:t>✅  最初に手をつけるべき優先順位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760720"/>
            <a:ext cx="11338560" cy="6400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5852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E3A5F"/>
                </a:solidFill>
              </a:rPr>
              <a:t>費用: 5万円〜10万円　|　診断だけで終わってもOK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本日のまとめ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Emport AI — 中小企業のためのAI活用入門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2200">
                <a:solidFill>
                  <a:srgbClr val="333333"/>
                </a:solidFill>
              </a:rPr>
              <a:t>① AIは中小企業にこそ使える（3つの誤解を解消）</a:t>
            </a:r>
          </a:p>
          <a:p>
            <a:pPr>
              <a:spcBef>
                <a:spcPts val="400"/>
              </a:spcBef>
            </a:pPr>
            <a:r>
              <a:rPr sz="2200">
                <a:solidFill>
                  <a:srgbClr val="333333"/>
                </a:solidFill>
              </a:rPr>
              <a:t>② 山口県の人手不足に、AIは現実的な解決策</a:t>
            </a:r>
          </a:p>
          <a:p>
            <a:pPr>
              <a:spcBef>
                <a:spcPts val="400"/>
              </a:spcBef>
            </a:pPr>
            <a:r>
              <a:rPr sz="2200">
                <a:solidFill>
                  <a:srgbClr val="333333"/>
                </a:solidFill>
              </a:rPr>
              <a:t>③ 製造・旅館・小売・建設で具体的な実績あり</a:t>
            </a:r>
          </a:p>
          <a:p>
            <a:pPr>
              <a:spcBef>
                <a:spcPts val="400"/>
              </a:spcBef>
            </a:pPr>
            <a:r>
              <a:rPr sz="2200">
                <a:solidFill>
                  <a:srgbClr val="333333"/>
                </a:solidFill>
              </a:rPr>
              <a:t>④ 補助金を使えば自己負担を最小化できる</a:t>
            </a:r>
          </a:p>
          <a:p>
            <a:pPr>
              <a:spcBef>
                <a:spcPts val="400"/>
              </a:spcBef>
            </a:pPr>
            <a:r>
              <a:rPr sz="2200">
                <a:solidFill>
                  <a:srgbClr val="333333"/>
                </a:solidFill>
              </a:rPr>
              <a:t>⑤ 最初の一歩は「AI業務診断」（5〜10万円）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5303520"/>
            <a:ext cx="1133856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5486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AIの波はもう来ている。問題はいつ乗るか。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今日ここから動ける3つの選択肢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Emport AI — 中小企業のためのAI活用入門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11155680" cy="12801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3A5F"/>
                </a:solidFill>
              </a:rPr>
              <a:t>① まず自分で試す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202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333333"/>
                </a:solidFill>
              </a:rPr>
              <a:t>ChatGPT無料版を1週間使ってみる
メール下書き・議事録・企画書の叩き台から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926080"/>
            <a:ext cx="11155680" cy="12801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017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3A5F"/>
                </a:solidFill>
              </a:rPr>
              <a:t>② 相談だけする（無料）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4747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333333"/>
                </a:solidFill>
              </a:rPr>
              <a:t>セミナー終了後にスタッフに声をかける
名刺をお渡しします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480560"/>
            <a:ext cx="11155680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③ AI業務診断を申し込む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029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今日お申し込みの方は優先対応します
まずはお気軽にどうぞ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1828800"/>
          </a:xfrm>
          <a:prstGeom prst="rect">
            <a:avLst/>
          </a:prstGeom>
          <a:solidFill>
            <a:srgbClr val="14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</a:rPr>
              <a:t>ご参加ありがとうございました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C9A84C"/>
                </a:solidFill>
              </a:rPr>
              <a:t>「今日が、御社のAI活用のスタートラインになれば嬉しいです。」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</a:rPr>
              <a:t>— Emport AI  CEO アレン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4480560"/>
            <a:ext cx="301752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754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CCCCCC"/>
                </a:solidFill>
              </a:rPr>
              <a:t>終了後、個別相談受付中。お気軽に声をかけてください。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